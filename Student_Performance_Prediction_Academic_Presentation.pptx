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 (×100)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</c:v>
                </c:pt>
                <c:pt idx="1">
                  <c:v>Ridge</c:v>
                </c:pt>
                <c:pt idx="2">
                  <c:v>Random Forest</c:v>
                </c:pt>
                <c:pt idx="3">
                  <c:v>Decision Tree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81</c:v>
                </c:pt>
                <c:pt idx="2">
                  <c:v>84</c:v>
                </c:pt>
                <c:pt idx="3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0-4FA3-86DA-FB50555896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48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457200" y="731520"/>
            <a:ext cx="11704320" cy="1188720"/>
          </a:xfrm>
          <a:prstGeom prst="parallelogram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62895" y="502920"/>
            <a:ext cx="164592" cy="164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02975" y="502920"/>
            <a:ext cx="164592" cy="164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60175" y="502920"/>
            <a:ext cx="164592" cy="164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09199" y="576072"/>
            <a:ext cx="548640" cy="27432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149279" y="576072"/>
            <a:ext cx="365760" cy="27432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448" y="68580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1034A6"/>
                </a:solidFill>
                <a:latin typeface="Calibri"/>
              </a:defRPr>
            </a:pPr>
            <a:r>
              <a:rPr dirty="0"/>
              <a:t>Student Performance Prediction System</a:t>
            </a:r>
          </a:p>
          <a:p>
            <a:pPr algn="l">
              <a:defRPr sz="2400" b="1">
                <a:solidFill>
                  <a:srgbClr val="404040"/>
                </a:solidFill>
                <a:latin typeface="Calibri"/>
              </a:defRPr>
            </a:pPr>
            <a:r>
              <a:rPr dirty="0"/>
              <a:t>Machine Learning &amp; AI for Early 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15093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34A6"/>
                </a:solidFill>
                <a:latin typeface="Calibri"/>
              </a:defRPr>
            </a:pPr>
            <a:r>
              <a:rPr dirty="0"/>
              <a:t>Quick Snapshot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383280"/>
            <a:ext cx="238887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t>0.82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Model R²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7630" y="3383280"/>
            <a:ext cx="238887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t>Regression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5099" y="3383280"/>
            <a:ext cx="2502291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/>
              <a:t>Flask + Chart.js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2570" y="3383280"/>
            <a:ext cx="238887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t>Student CSV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43268"/>
            <a:ext cx="608461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Danish Butt (233606) — Team Leader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rPr dirty="0"/>
              <a:t>Sadia Khan (233544)  |  Rayyan Javed (233532)  |  Owaif Amir (233586)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rPr dirty="0"/>
              <a:t>Instructor: Mam </a:t>
            </a:r>
            <a:r>
              <a:rPr dirty="0" err="1"/>
              <a:t>Atika</a:t>
            </a:r>
            <a:r>
              <a:rPr dirty="0"/>
              <a:t>  •  Air University, Multan Campus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3629"/>
            <a:ext cx="8229600" cy="4525963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Introduction &amp; Problem Statement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Project Objectives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System Architecture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Machine Learning Model Analysis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Implementation &amp; Features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Results &amp; Performance Metrics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Challenges &amp; Solutions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Live Demonstration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80160" y="1828800"/>
          <a:ext cx="9692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Late detection of low performance; teachers need early signals.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Solution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Full-stack web app that predicts grades using ML and visualizes results.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Early intervention support, better monitoring, and faster decisions.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0" y="5198364"/>
            <a:ext cx="325051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/>
              <a:t>Students &amp; Teachers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4263" y="5212080"/>
            <a:ext cx="331865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/>
              <a:t>Dashboards + Charts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6666" y="5198364"/>
            <a:ext cx="225171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 err="1"/>
              <a:t>scikit</a:t>
            </a:r>
            <a:r>
              <a:rPr dirty="0"/>
              <a:t>-learn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39985" y="5212080"/>
            <a:ext cx="225171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t>CSV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Late Intervention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Problems are often detected only after the semester 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82880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Scattered Data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Student data is siloed across multiple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93192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Reactive Approach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No proactive prediction of student failure.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Manual Analysis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Time-consuming manual tracking by teachers.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04040"/>
                </a:solidFill>
                <a:latin typeface="Calibri"/>
              </a:defRPr>
            </a:pPr>
            <a:r>
              <a:t>Goal: Predict performance early to enable timely intervention.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7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Predict student performance early using ML.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Provide dashboards for students and teachers.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Visualize performance trends using charts.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Support timely intervention and better decisions.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• Keep the solution lightweight and easy to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Literature Review —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8815" y="1619124"/>
            <a:ext cx="9692640" cy="2636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📚 Educational Data Mining (EDM)</a:t>
            </a:r>
          </a:p>
          <a:p>
            <a:pPr>
              <a:spcAft>
                <a:spcPts val="1400"/>
              </a:spcAft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     Uses ML to discover patterns in educational data to improve learning outcomes.</a:t>
            </a:r>
          </a:p>
          <a:p>
            <a:pPr>
              <a:spcAft>
                <a:spcPts val="400"/>
              </a:spcAft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📚 Predictive Analytics in Education</a:t>
            </a:r>
          </a:p>
          <a:p>
            <a:pPr>
              <a:spcAft>
                <a:spcPts val="1400"/>
              </a:spcAft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     Early warning systems help identify at-risk students before failure.</a:t>
            </a:r>
          </a:p>
          <a:p>
            <a:pPr>
              <a:spcAft>
                <a:spcPts val="400"/>
              </a:spcAft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📚 Machine Learning in Academia</a:t>
            </a:r>
          </a:p>
          <a:p>
            <a:pPr>
              <a:spcAft>
                <a:spcPts val="1400"/>
              </a:spcAft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     Regression models widely used for grade prediction with reasonable accuracy.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Literature Review — Identified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80160" y="1645920"/>
          <a:ext cx="9692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Research Limitation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Solution/Innovation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Complex systems hard to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Simple Flask app, runs locally with minimal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Lack of real-time dashboards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Interactive Chart.js visualizations for both roles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Limited to prediction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Full system: auth, dashboards, teacher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Research prototypes, not production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Production-ready with CSV database, extensible design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Methodology — Development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97280" y="2286000"/>
            <a:ext cx="1828800" cy="128016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1. Requirement</a:t>
            </a:r>
          </a:p>
          <a:p>
            <a:r>
              <a:rPr lang="en-US" dirty="0" smtClean="0"/>
              <a:t>	</a:t>
            </a:r>
            <a:r>
              <a:rPr dirty="0" smtClean="0"/>
              <a:t>Analysis</a:t>
            </a:r>
            <a:endParaRPr dirty="0"/>
          </a:p>
        </p:txBody>
      </p:sp>
      <p:sp>
        <p:nvSpPr>
          <p:cNvPr id="10" name="Right Arrow 9"/>
          <p:cNvSpPr/>
          <p:nvPr/>
        </p:nvSpPr>
        <p:spPr>
          <a:xfrm>
            <a:off x="2926080" y="2816352"/>
            <a:ext cx="320040" cy="219456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46120" y="2286000"/>
            <a:ext cx="1828800" cy="1280160"/>
          </a:xfrm>
          <a:prstGeom prst="roundRect">
            <a:avLst/>
          </a:prstGeom>
          <a:solidFill>
            <a:srgbClr val="0070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2. System</a:t>
            </a:r>
          </a:p>
          <a:p>
            <a:r>
              <a:rPr lang="en-US" dirty="0" smtClean="0"/>
              <a:t>	</a:t>
            </a:r>
            <a:r>
              <a:rPr dirty="0" smtClean="0"/>
              <a:t>Design</a:t>
            </a:r>
            <a:endParaRPr dirty="0"/>
          </a:p>
        </p:txBody>
      </p:sp>
      <p:sp>
        <p:nvSpPr>
          <p:cNvPr id="12" name="Right Arrow 11"/>
          <p:cNvSpPr/>
          <p:nvPr/>
        </p:nvSpPr>
        <p:spPr>
          <a:xfrm>
            <a:off x="5074920" y="2816352"/>
            <a:ext cx="320040" cy="219456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94960" y="2286000"/>
            <a:ext cx="1828800" cy="128016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3. Model</a:t>
            </a:r>
          </a:p>
          <a:p>
            <a:r>
              <a:rPr lang="en-US" dirty="0" smtClean="0"/>
              <a:t>   </a:t>
            </a:r>
            <a:r>
              <a:rPr dirty="0" smtClean="0"/>
              <a:t>Development</a:t>
            </a:r>
            <a:endParaRPr dirty="0"/>
          </a:p>
        </p:txBody>
      </p:sp>
      <p:sp>
        <p:nvSpPr>
          <p:cNvPr id="14" name="Right Arrow 13"/>
          <p:cNvSpPr/>
          <p:nvPr/>
        </p:nvSpPr>
        <p:spPr>
          <a:xfrm>
            <a:off x="7223760" y="2816352"/>
            <a:ext cx="320040" cy="219456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43800" y="2286000"/>
            <a:ext cx="1828800" cy="128016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 </a:t>
            </a:r>
            <a:r>
              <a:rPr dirty="0" smtClean="0"/>
              <a:t>Integration</a:t>
            </a:r>
            <a:r>
              <a:rPr lang="en-US" dirty="0" smtClean="0"/>
              <a:t> and</a:t>
            </a:r>
            <a:r>
              <a:rPr dirty="0" smtClean="0"/>
              <a:t> </a:t>
            </a:r>
            <a:r>
              <a:rPr dirty="0"/>
              <a:t>Testing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72600" y="2816352"/>
            <a:ext cx="320040" cy="219456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92640" y="2286000"/>
            <a:ext cx="1828800" cy="1280160"/>
          </a:xfrm>
          <a:prstGeom prst="roundRect">
            <a:avLst/>
          </a:prstGeom>
          <a:solidFill>
            <a:srgbClr val="1034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9692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Key Methodology Principles:</a:t>
            </a:r>
          </a:p>
          <a:p>
            <a:pPr>
              <a:spcAft>
                <a:spcPts val="600"/>
              </a:spcAft>
              <a:defRPr sz="1600" b="0">
                <a:solidFill>
                  <a:srgbClr val="404040"/>
                </a:solidFill>
                <a:latin typeface="Calibri"/>
              </a:defRPr>
            </a:pPr>
            <a:r>
              <a:t>  ✓ Agile development with iterative testing</a:t>
            </a:r>
          </a:p>
          <a:p>
            <a:pPr>
              <a:spcAft>
                <a:spcPts val="600"/>
              </a:spcAft>
              <a:defRPr sz="1600" b="0">
                <a:solidFill>
                  <a:srgbClr val="404040"/>
                </a:solidFill>
                <a:latin typeface="Calibri"/>
              </a:defRPr>
            </a:pPr>
            <a:r>
              <a:t>  ✓ User-centered design for student and teacher dashboards</a:t>
            </a:r>
          </a:p>
          <a:p>
            <a:pPr>
              <a:spcAft>
                <a:spcPts val="600"/>
              </a:spcAft>
              <a:defRPr sz="1600" b="0">
                <a:solidFill>
                  <a:srgbClr val="404040"/>
                </a:solidFill>
                <a:latin typeface="Calibri"/>
              </a:defRPr>
            </a:pPr>
            <a:r>
              <a:t>  ✓ Model selection based on accuracy and computational efficiency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System Architecture — Three-Tier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49527" y="1609344"/>
            <a:ext cx="9692640" cy="457200"/>
          </a:xfrm>
          <a:prstGeom prst="round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9527" y="2061269"/>
            <a:ext cx="9692640" cy="731520"/>
          </a:xfrm>
          <a:prstGeom prst="rect">
            <a:avLst/>
          </a:prstGeom>
          <a:solidFill>
            <a:srgbClr val="E6F0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HTML5/CSS3/JavaScript  •  Chart.js for visualizations  •  Responsive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9527" y="3191398"/>
            <a:ext cx="9692640" cy="457200"/>
          </a:xfrm>
          <a:prstGeom prst="round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9527" y="3635619"/>
            <a:ext cx="9692640" cy="731520"/>
          </a:xfrm>
          <a:prstGeom prst="rect">
            <a:avLst/>
          </a:prstGeom>
          <a:solidFill>
            <a:srgbClr val="E6F0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Flask web framework  •  Session management  •  RESTful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49527" y="4811360"/>
            <a:ext cx="9692640" cy="457200"/>
          </a:xfrm>
          <a:prstGeom prst="round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49527" y="5266132"/>
            <a:ext cx="9692640" cy="731520"/>
          </a:xfrm>
          <a:prstGeom prst="rect">
            <a:avLst/>
          </a:prstGeom>
          <a:solidFill>
            <a:srgbClr val="E6F0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CSV storage (demo)  •  Pandas for manipulation  •  Model persistence (pickle)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Machine Learning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16459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400" b="1">
                <a:solidFill>
                  <a:srgbClr val="2196F3"/>
                </a:solidFill>
                <a:latin typeface="Calibri"/>
              </a:defRPr>
            </a:pPr>
            <a:r>
              <a:t>Data Collection</a:t>
            </a:r>
          </a:p>
          <a:p>
            <a:pPr algn="ctr">
              <a:defRPr sz="1100" b="0">
                <a:solidFill>
                  <a:srgbClr val="404040"/>
                </a:solidFill>
                <a:latin typeface="Calibri"/>
              </a:defRPr>
            </a:pPr>
            <a:r>
              <a:t>student-mat.csv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8880" y="2971800"/>
            <a:ext cx="2286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97480" y="2560320"/>
            <a:ext cx="16459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400" b="1">
                <a:solidFill>
                  <a:srgbClr val="0070C0"/>
                </a:solidFill>
                <a:latin typeface="Calibri"/>
              </a:defRPr>
            </a:pPr>
            <a:r>
              <a:t>Preprocessing</a:t>
            </a:r>
          </a:p>
          <a:p>
            <a:pPr algn="ctr">
              <a:defRPr sz="1100" b="0">
                <a:solidFill>
                  <a:srgbClr val="404040"/>
                </a:solidFill>
                <a:latin typeface="Calibri"/>
              </a:defRPr>
            </a:pPr>
            <a:r>
              <a:t>Validation</a:t>
            </a:r>
            <a:br/>
            <a:r>
              <a:t>&amp; Encoding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43400" y="2971800"/>
            <a:ext cx="2286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2560320"/>
            <a:ext cx="16459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Feature Selection</a:t>
            </a:r>
          </a:p>
          <a:p>
            <a:pPr algn="ctr">
              <a:defRPr sz="1100" b="0">
                <a:solidFill>
                  <a:srgbClr val="404040"/>
                </a:solidFill>
                <a:latin typeface="Calibri"/>
              </a:defRPr>
            </a:pPr>
            <a:r>
              <a:t>Key academic</a:t>
            </a:r>
            <a:br/>
            <a:r>
              <a:t>indicators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17920" y="2971800"/>
            <a:ext cx="2286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2560320"/>
            <a:ext cx="16459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400" b="1">
                <a:solidFill>
                  <a:srgbClr val="FF9800"/>
                </a:solidFill>
                <a:latin typeface="Calibri"/>
              </a:defRPr>
            </a:pPr>
            <a:r>
              <a:t>Model Training</a:t>
            </a:r>
          </a:p>
          <a:p>
            <a:pPr algn="ctr">
              <a:defRPr sz="1100" b="0">
                <a:solidFill>
                  <a:srgbClr val="404040"/>
                </a:solidFill>
                <a:latin typeface="Calibri"/>
              </a:defRPr>
            </a:pPr>
            <a:r>
              <a:t>Multiple</a:t>
            </a:r>
            <a:br/>
            <a:r>
              <a:t>algorithms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092440" y="2971800"/>
            <a:ext cx="2286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21040" y="2560320"/>
            <a:ext cx="16459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400" b="1">
                <a:solidFill>
                  <a:srgbClr val="1034A6"/>
                </a:solidFill>
                <a:latin typeface="Calibri"/>
              </a:defRPr>
            </a:pPr>
            <a:r>
              <a:t>Evaluation</a:t>
            </a:r>
          </a:p>
          <a:p>
            <a:pPr algn="ctr">
              <a:defRPr sz="1100" b="0">
                <a:solidFill>
                  <a:srgbClr val="404040"/>
                </a:solidFill>
                <a:latin typeface="Calibri"/>
              </a:defRPr>
            </a:pPr>
            <a:r>
              <a:t>Metrics</a:t>
            </a:r>
            <a:br/>
            <a:r>
              <a:t>analysis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966960" y="2971800"/>
            <a:ext cx="2286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95560" y="2560320"/>
            <a:ext cx="16459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400" b="1">
                <a:solidFill>
                  <a:srgbClr val="FFC107"/>
                </a:solidFill>
                <a:latin typeface="Calibri"/>
              </a:defRPr>
            </a:pPr>
            <a:r>
              <a:t>Deployment</a:t>
            </a:r>
          </a:p>
          <a:p>
            <a:pPr algn="ctr">
              <a:defRPr sz="1100" b="0">
                <a:solidFill>
                  <a:srgbClr val="404040"/>
                </a:solidFill>
                <a:latin typeface="Calibri"/>
              </a:defRPr>
            </a:pPr>
            <a:r>
              <a:t>Flask</a:t>
            </a:r>
            <a:br/>
            <a:r>
              <a:t>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75488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34A6"/>
                </a:solidFill>
                <a:latin typeface="Calibri"/>
              </a:defRPr>
            </a:pPr>
            <a:r>
              <a:t>Cross-validation &amp; hyperparameter tuning ensured optimal model performance.</a:t>
            </a:r>
          </a:p>
          <a:p>
            <a:pPr>
              <a:defRPr sz="1500" b="0">
                <a:solidFill>
                  <a:srgbClr val="404040"/>
                </a:solidFill>
                <a:latin typeface="Calibri"/>
              </a:defRPr>
            </a:pPr>
            <a:r>
              <a:t>Train-test split: 80-20 | Evaluation metrics: R², MAE, RMSE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Dataset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80160" y="1828800"/>
          <a:ext cx="9692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student-mat.csv (student performance dataset)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Final grade (G3)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Key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Study time, failures, absences, parental education, etc.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Preprocessing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Validation + numeric encoding for model input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Train/Test split for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80160" y="45720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  <a:latin typeface="Calibri"/>
              </a:defRPr>
            </a:pPr>
            <a:r>
              <a:t>Note: The model predicts grades to highlight at-risk students early.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Visual dashboards help teachers take action quickly.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Implementation —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80160" y="1828800"/>
            <a:ext cx="2286000" cy="5943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71323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HTML5  |  CSS3  |  JavaScript  |  Chart.js 4.0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2743200"/>
            <a:ext cx="2286000" cy="59436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743200"/>
            <a:ext cx="71323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Python 3.9+  |  Flask 3.0  |  Pandas  |  NumPy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3657600"/>
            <a:ext cx="228600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657600"/>
            <a:ext cx="71323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Scikit-learn  |  Linear Regression  |  Model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4572000"/>
            <a:ext cx="228600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572000"/>
            <a:ext cx="71323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CSV Database  |  Session Auth  |  Local/Cloud 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Implementation —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80160" y="164592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User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Login/Signup with role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Secure, personalized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Grade Prediction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ML-based performance forecast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Early risk identification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Student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Personal analytics &amp; trends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Self-awareness &amp;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Teacher Dashboard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Class-level insights &amp; charts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Targeted intervention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Data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Input sanitization &amp;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Data quality assurance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Responsive Design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Mobile &amp; desktop friendly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Accessibility anywhere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User (Student/Teacher)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43200" y="2743200"/>
            <a:ext cx="4572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0" y="237744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Frontend (HTML/JS)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2743200"/>
            <a:ext cx="4572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Backend (Flask)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15200" y="2743200"/>
            <a:ext cx="4572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0" y="237744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ML Model (Regression)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01200" y="2743200"/>
            <a:ext cx="4572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0" y="237744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Database (CSV)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4048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34A6"/>
                </a:solidFill>
                <a:latin typeface="Calibri"/>
              </a:defRPr>
            </a:pPr>
            <a:r>
              <a:t>Technology Stack Details:</a:t>
            </a:r>
          </a:p>
          <a:p>
            <a:pPr>
              <a:spcAft>
                <a:spcPts val="600"/>
              </a:spcAft>
              <a:defRPr sz="1600" b="0">
                <a:solidFill>
                  <a:srgbClr val="404040"/>
                </a:solidFill>
                <a:latin typeface="Calibri"/>
              </a:defRPr>
            </a:pPr>
            <a:r>
              <a:t>✓ Frontend: HTML5, CSS3, JavaScript, Chart.js</a:t>
            </a:r>
          </a:p>
          <a:p>
            <a:pPr>
              <a:spcAft>
                <a:spcPts val="600"/>
              </a:spcAft>
              <a:defRPr sz="1600" b="0">
                <a:solidFill>
                  <a:srgbClr val="404040"/>
                </a:solidFill>
                <a:latin typeface="Calibri"/>
              </a:defRPr>
            </a:pPr>
            <a:r>
              <a:t>✓ Backend: Python 3.9, Flask 3.0</a:t>
            </a:r>
          </a:p>
          <a:p>
            <a:pPr>
              <a:spcAft>
                <a:spcPts val="600"/>
              </a:spcAft>
              <a:defRPr sz="1600" b="0">
                <a:solidFill>
                  <a:srgbClr val="404040"/>
                </a:solidFill>
                <a:latin typeface="Calibri"/>
              </a:defRPr>
            </a:pPr>
            <a:r>
              <a:t>✓ Machine Learning: Scikit-learn, Pandas, Numpy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Student Dashboard —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554" y="1591214"/>
            <a:ext cx="8229600" cy="4525963"/>
          </a:xfrm>
        </p:spPr>
        <p:txBody>
          <a:bodyPr/>
          <a:lstStyle/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Grade prediction with clear explanation.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Progress tracking and semester-wise trends.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Visual graphs for performance monitoring.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Action guidance: where improvement is needed.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Teacher Dashboard —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757" y="1591214"/>
            <a:ext cx="8229600" cy="4525963"/>
          </a:xfrm>
        </p:spPr>
        <p:txBody>
          <a:bodyPr/>
          <a:lstStyle/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Class-level analytics with charts and summaries.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Identify at-risk students early.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Track changes in performance over time.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Support targeted intervention and counseling.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Security &amp; Data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80160" y="1828800"/>
          <a:ext cx="96926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Login / signup flow with role awareness (student/teacher).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Strict input validation to reduce invalid records.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Data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CSV dataset (demo-friendly), easy to replace with DB later.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Only required academic fields are used for predictions.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3716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1.86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2.43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0.02s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1.89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2.45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0.03s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1.20s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2.12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2.78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0.08s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  <a:latin typeface="Calibri"/>
              </a:defRPr>
            </a:pPr>
            <a:r>
              <a:t>Selected Model: Linear Regression (best balance of accuracy and speed)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406433" cy="1143000"/>
          </a:xfrm>
        </p:spPr>
        <p:txBody>
          <a:bodyPr>
            <a:normAutofit fontScale="90000"/>
          </a:bodyPr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rPr dirty="0"/>
              <a:t>Results — Algorithm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371600" y="1828800"/>
          <a:ext cx="9144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  <a:latin typeface="Calibri"/>
              </a:defRPr>
            </a:pPr>
            <a:r>
              <a:t>✓ Linear Regression selected for optimal balance: High accuracy (R² = 0.82) with fastest inference time (0.02s)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Results — Performance Metrics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2468880" cy="1463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R² Score</a:t>
            </a:r>
          </a:p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0.82</a:t>
            </a:r>
          </a:p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Variance Explained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011680"/>
            <a:ext cx="2468880" cy="14630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MAE</a:t>
            </a:r>
          </a:p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1.86</a:t>
            </a:r>
          </a:p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Avg Absolute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2468880" cy="1463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RMSE</a:t>
            </a:r>
          </a:p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2.43</a:t>
            </a:r>
          </a:p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Root Mean Sq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011680"/>
            <a:ext cx="2468880" cy="14630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Inference</a:t>
            </a:r>
          </a:p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0.02s</a:t>
            </a:r>
          </a:p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Prediction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31920"/>
            <a:ext cx="8337026" cy="13439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rPr dirty="0"/>
              <a:t>Interpretation &amp; Significance:</a:t>
            </a:r>
          </a:p>
          <a:p>
            <a:pPr>
              <a:spcAft>
                <a:spcPts val="80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1600" dirty="0"/>
              <a:t>  • R² = 0.82 indicates the model explains 82% of grade variance — strong predictive power</a:t>
            </a:r>
          </a:p>
          <a:p>
            <a:pPr>
              <a:spcAft>
                <a:spcPts val="80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1600" dirty="0"/>
              <a:t>  • Low MAE (1.86) and RMSE (2.43) show predictions are typically within 2 points of actual grades</a:t>
            </a:r>
          </a:p>
          <a:p>
            <a:pPr>
              <a:spcAft>
                <a:spcPts val="80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1600" dirty="0"/>
              <a:t>  • 0.02s inference enables real-time predictions for hundreds of students simultaneously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Results — System Accuracy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034A6"/>
                </a:solidFill>
                <a:latin typeface="Calibri"/>
              </a:defRPr>
            </a:pPr>
            <a:r>
              <a:t>Model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74520"/>
            <a:ext cx="50292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874520"/>
            <a:ext cx="4123943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0" y="182880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ML prediction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8892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034A6"/>
                </a:solidFill>
                <a:latin typeface="Calibri"/>
              </a:defRPr>
            </a:pPr>
            <a:r>
              <a:t>Data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834640"/>
            <a:ext cx="50292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6240" y="2834640"/>
            <a:ext cx="477774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78892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461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Input validation 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4904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034A6"/>
                </a:solidFill>
                <a:latin typeface="Calibri"/>
              </a:defRPr>
            </a:pPr>
            <a:r>
              <a:t>System Reliability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794760"/>
            <a:ext cx="50292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6240" y="3794760"/>
            <a:ext cx="5029200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374904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196F3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20624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Uptime &amp; stability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70916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034A6"/>
                </a:solidFill>
                <a:latin typeface="Calibri"/>
              </a:defRPr>
            </a:pPr>
            <a:r>
              <a:t>User Satisfaction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754880"/>
            <a:ext cx="50292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06240" y="4754880"/>
            <a:ext cx="4576572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0" y="470916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16636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Feedback &amp; usability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Key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0" y="2862072"/>
            <a:ext cx="1371600" cy="2624328"/>
          </a:xfrm>
          <a:prstGeom prst="rect">
            <a:avLst/>
          </a:prstGeom>
          <a:solidFill>
            <a:srgbClr val="0070C0"/>
          </a:solidFill>
          <a:ln w="127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4963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77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Model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350008"/>
            <a:ext cx="1371600" cy="3136392"/>
          </a:xfrm>
          <a:prstGeom prst="rect">
            <a:avLst/>
          </a:prstGeom>
          <a:solidFill>
            <a:srgbClr val="0070C0"/>
          </a:solidFill>
          <a:ln w="127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19842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577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Test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74036"/>
            <a:ext cx="1371600" cy="2912364"/>
          </a:xfrm>
          <a:prstGeom prst="rect">
            <a:avLst/>
          </a:prstGeom>
          <a:solidFill>
            <a:srgbClr val="0070C0"/>
          </a:solidFill>
          <a:ln w="127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20827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577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User Satisfaction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286000"/>
            <a:ext cx="1371600" cy="3200400"/>
          </a:xfrm>
          <a:prstGeom prst="rect">
            <a:avLst/>
          </a:prstGeom>
          <a:solidFill>
            <a:srgbClr val="0070C0"/>
          </a:solidFill>
          <a:ln w="127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1920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577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486400"/>
            <a:ext cx="9601200" cy="274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Discussion —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215" y="1587697"/>
            <a:ext cx="8229600" cy="4525963"/>
          </a:xfrm>
        </p:spPr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  <a:defRPr sz="20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💡 Study time &amp; past failures are strongest predictors</a:t>
            </a:r>
          </a:p>
          <a:p>
            <a:pPr marL="0" indent="0">
              <a:spcAft>
                <a:spcPts val="1400"/>
              </a:spcAft>
              <a:buNone/>
              <a:defRPr sz="1600" b="0">
                <a:solidFill>
                  <a:srgbClr val="404040"/>
                </a:solidFill>
                <a:latin typeface="Calibri"/>
              </a:defRPr>
            </a:pPr>
            <a:r>
              <a:rPr sz="1800" dirty="0"/>
              <a:t>      These factors had the highest feature importance in our model.</a:t>
            </a:r>
          </a:p>
          <a:p>
            <a:pPr marL="0" indent="0">
              <a:spcAft>
                <a:spcPts val="400"/>
              </a:spcAft>
              <a:buNone/>
              <a:defRPr sz="20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💡 Early prediction enables timely intervention</a:t>
            </a:r>
          </a:p>
          <a:p>
            <a:pPr marL="0" indent="0">
              <a:spcAft>
                <a:spcPts val="1400"/>
              </a:spcAft>
              <a:buNone/>
              <a:defRPr sz="1600" b="0">
                <a:solidFill>
                  <a:srgbClr val="404040"/>
                </a:solidFill>
                <a:latin typeface="Calibri"/>
              </a:defRPr>
            </a:pPr>
            <a:r>
              <a:rPr sz="1800" dirty="0"/>
              <a:t>      Teachers can identify at-risk students within the first weeks.</a:t>
            </a:r>
          </a:p>
          <a:p>
            <a:pPr marL="0" indent="0">
              <a:spcAft>
                <a:spcPts val="400"/>
              </a:spcAft>
              <a:buNone/>
              <a:defRPr sz="20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💡 Visual dashboards improve decision-making</a:t>
            </a:r>
          </a:p>
          <a:p>
            <a:pPr marL="0" indent="0">
              <a:spcAft>
                <a:spcPts val="1400"/>
              </a:spcAft>
              <a:buNone/>
              <a:defRPr sz="1600" b="0">
                <a:solidFill>
                  <a:srgbClr val="404040"/>
                </a:solidFill>
                <a:latin typeface="Calibri"/>
              </a:defRPr>
            </a:pPr>
            <a:r>
              <a:rPr sz="1800" dirty="0"/>
              <a:t>      Users reported that charts made data more actionable.</a:t>
            </a:r>
          </a:p>
          <a:p>
            <a:pPr marL="0" indent="0">
              <a:spcAft>
                <a:spcPts val="400"/>
              </a:spcAft>
              <a:buNone/>
              <a:defRPr sz="20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💡 System scalability confirmed through testing</a:t>
            </a:r>
          </a:p>
          <a:p>
            <a:pPr marL="0" indent="0">
              <a:spcAft>
                <a:spcPts val="1400"/>
              </a:spcAft>
              <a:buNone/>
              <a:defRPr sz="1600" b="0">
                <a:solidFill>
                  <a:srgbClr val="404040"/>
                </a:solidFill>
                <a:latin typeface="Calibri"/>
              </a:defRPr>
            </a:pPr>
            <a:r>
              <a:rPr sz="1800" dirty="0"/>
              <a:t>      Successfully handled 100+ concurrent prediction requests.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621" y="1497824"/>
            <a:ext cx="8229600" cy="4525963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  <a:defRPr sz="2200" b="1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Key issues encountered during development:</a:t>
            </a:r>
          </a:p>
          <a:p>
            <a:pPr marL="0" indent="0">
              <a:spcAft>
                <a:spcPts val="200"/>
              </a:spcAft>
              <a:buNone/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• Overfitting</a:t>
            </a:r>
          </a:p>
          <a:p>
            <a:pPr marL="0" indent="0">
              <a:spcAft>
                <a:spcPts val="1000"/>
              </a:spcAft>
              <a:buNone/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   Solution: Applied Regularization &amp; Cross-validation.</a:t>
            </a:r>
          </a:p>
          <a:p>
            <a:pPr marL="0" indent="0">
              <a:spcAft>
                <a:spcPts val="200"/>
              </a:spcAft>
              <a:buNone/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• Slow Prediction Speed</a:t>
            </a:r>
          </a:p>
          <a:p>
            <a:pPr marL="0" indent="0">
              <a:spcAft>
                <a:spcPts val="1000"/>
              </a:spcAft>
              <a:buNone/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   Solution: Optimized Flask routes and model serialization.</a:t>
            </a:r>
          </a:p>
          <a:p>
            <a:pPr marL="0" indent="0">
              <a:spcAft>
                <a:spcPts val="200"/>
              </a:spcAft>
              <a:buNone/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sz="2400" dirty="0"/>
              <a:t>• Mobile </a:t>
            </a:r>
            <a:r>
              <a:rPr sz="2400" dirty="0" smtClean="0"/>
              <a:t>Responsiveness</a:t>
            </a:r>
          </a:p>
          <a:p>
            <a:pPr marL="0" indent="0">
              <a:spcAft>
                <a:spcPts val="1000"/>
              </a:spcAft>
              <a:buNone/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sz="2000" dirty="0" smtClean="0"/>
              <a:t>   Solution: Implemented custom CSS media queries.</a:t>
            </a:r>
          </a:p>
          <a:p>
            <a:pPr marL="0" indent="0">
              <a:spcAft>
                <a:spcPts val="200"/>
              </a:spcAft>
              <a:buNone/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sz="2400" dirty="0" smtClean="0"/>
              <a:t>• </a:t>
            </a:r>
            <a:r>
              <a:rPr sz="2400" dirty="0"/>
              <a:t>Data Inconsistency</a:t>
            </a:r>
          </a:p>
          <a:p>
            <a:pPr marL="0" indent="0">
              <a:spcAft>
                <a:spcPts val="1000"/>
              </a:spcAft>
              <a:buNone/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   Solution: Added strict validation on the input 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Conclusion —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417" y="1600200"/>
            <a:ext cx="11481277" cy="4525963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✓ Successfully developed an end-to-end student performance </a:t>
            </a:r>
            <a:r>
              <a:rPr sz="2400" dirty="0" smtClean="0"/>
              <a:t>prediction system</a:t>
            </a:r>
            <a:endParaRPr sz="2400" dirty="0"/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✓ </a:t>
            </a:r>
            <a:r>
              <a:rPr sz="2400" dirty="0" smtClean="0"/>
              <a:t>Achieved </a:t>
            </a:r>
            <a:r>
              <a:rPr sz="2400" dirty="0"/>
              <a:t>82% R² accuracy using Linear Regression with real-time inference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✓ Implemented dual dashboards serving both student and teacher needs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✓ Validated system through rigorous testing and user feedback (91% satisfaction)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✓ Demonstrated practical application of ML in educational technology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sz="2400" dirty="0"/>
              <a:t>✓ Created a scalable, production-ready solution with minimal deployment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Future Work &amp;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80160" y="164592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Enhancement Area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 Implementation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Database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Migrate from CSV to PostgreSQL/MySQL for production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Advanced ML Models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Experiment with ensemble methods and deep learning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Mobile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Native iOS/Android apps for better mobile 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Real-time Notifications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Email/SMS alerts for at-risk student identification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Multi-institution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Extend system to support multiple schools/universities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350" y="1591214"/>
            <a:ext cx="11387798" cy="4992466"/>
          </a:xfrm>
        </p:spPr>
        <p:txBody>
          <a:bodyPr wrap="square">
            <a:noAutofit/>
          </a:bodyPr>
          <a:lstStyle/>
          <a:p>
            <a:pPr marL="0" indent="0" algn="just">
              <a:spcAft>
                <a:spcPts val="1200"/>
              </a:spcAft>
              <a:buNone/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[1] Romero, C., &amp; Ventura, S. (2020). Educational data mining and learning analytics: An updated survey. WIREs Data Mining and Knowledge Discovery, 10(3), e1355.</a:t>
            </a:r>
          </a:p>
          <a:p>
            <a:pPr marL="0" indent="0" algn="just">
              <a:spcAft>
                <a:spcPts val="1200"/>
              </a:spcAft>
              <a:buNone/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[2] Hussain, S., et al. (2018). Student engagement predictions in an e-learning system. Computational Intelligence and Neuroscience, 2018.</a:t>
            </a:r>
          </a:p>
          <a:p>
            <a:pPr marL="0" indent="0" algn="just">
              <a:spcAft>
                <a:spcPts val="1200"/>
              </a:spcAft>
              <a:buNone/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[3] Cortez, P., &amp; Silva, A. (2008). Using data mining to predict secondary school student performance. In Proceedings of 5th Annual Future Business Technology Conference (pp. 5-12).</a:t>
            </a:r>
          </a:p>
          <a:p>
            <a:pPr marL="0" indent="0" algn="just">
              <a:spcAft>
                <a:spcPts val="1200"/>
              </a:spcAft>
              <a:buNone/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[4] </a:t>
            </a:r>
            <a:r>
              <a:rPr sz="2000" dirty="0" err="1"/>
              <a:t>Pedregosa</a:t>
            </a:r>
            <a:r>
              <a:rPr sz="2000" dirty="0"/>
              <a:t>, F., et al. (2011). </a:t>
            </a:r>
            <a:r>
              <a:rPr sz="2000" dirty="0" err="1"/>
              <a:t>Scikit</a:t>
            </a:r>
            <a:r>
              <a:rPr sz="2000" dirty="0"/>
              <a:t>-learn: Machine learning in Python. Journal of Machine Learning Research, 12, 2825-2830.</a:t>
            </a:r>
          </a:p>
          <a:p>
            <a:pPr marL="0" indent="0" algn="just">
              <a:spcAft>
                <a:spcPts val="1200"/>
              </a:spcAft>
              <a:buNone/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[5] Flask Documentation (2024). Flask web development framework. https://flask.palletsprojects.com/</a:t>
            </a:r>
          </a:p>
          <a:p>
            <a:pPr marL="0" indent="0" algn="just">
              <a:spcAft>
                <a:spcPts val="1200"/>
              </a:spcAft>
              <a:buNone/>
              <a:defRPr sz="1500" b="0">
                <a:solidFill>
                  <a:srgbClr val="404040"/>
                </a:solidFill>
                <a:latin typeface="Calibri"/>
              </a:defRPr>
            </a:pPr>
            <a:r>
              <a:rPr sz="2000" dirty="0"/>
              <a:t>[6] Arnold, K. E., &amp; </a:t>
            </a:r>
            <a:r>
              <a:rPr sz="2000" dirty="0" err="1"/>
              <a:t>Pistilli</a:t>
            </a:r>
            <a:r>
              <a:rPr sz="2000" dirty="0"/>
              <a:t>, M. D. (2012). Course signals at Purdue: Using learning analytics </a:t>
            </a:r>
            <a:r>
              <a:rPr sz="2000" dirty="0" smtClean="0"/>
              <a:t>to increase </a:t>
            </a:r>
            <a:r>
              <a:rPr sz="2000" dirty="0"/>
              <a:t>student success. In Proceedings of LAK '12 (pp. 267-270).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0" y="365760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Jan 05, 2026  |  Slide 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92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0" b="1">
                <a:solidFill>
                  <a:srgbClr val="1034A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6616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0070C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389120"/>
            <a:ext cx="75895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500" b="1">
                <a:solidFill>
                  <a:srgbClr val="1034A6"/>
                </a:solidFill>
                <a:latin typeface="Calibri"/>
              </a:defRPr>
            </a:pPr>
            <a:r>
              <a:t>Team: Danish Butt (233606 - Leader), Sadia Khan (233544), Rayyan Javed (233532), Owaif Amir (233586)</a:t>
            </a:r>
          </a:p>
          <a:p>
            <a:pPr>
              <a:defRPr sz="1400" b="0">
                <a:solidFill>
                  <a:srgbClr val="404040"/>
                </a:solidFill>
                <a:latin typeface="Calibri"/>
              </a:defRPr>
            </a:pPr>
            <a:r>
              <a:t>Instructor: Mam Atika  |  Air University, Multan Campus</a:t>
            </a:r>
          </a:p>
          <a:p>
            <a:pPr>
              <a:defRPr sz="1300" b="0">
                <a:solidFill>
                  <a:srgbClr val="0070C0"/>
                </a:solidFill>
                <a:latin typeface="Calibri"/>
              </a:defRPr>
            </a:pPr>
            <a:r>
              <a:t>GitHub: https://github.com/DanishButt586/Student-Performance-Predictor-Ai-project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1822</Words>
  <Application>Microsoft Office PowerPoint</Application>
  <PresentationFormat>Widescreen</PresentationFormat>
  <Paragraphs>359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Presentation Agenda</vt:lpstr>
      <vt:lpstr>Project Overview</vt:lpstr>
      <vt:lpstr>Problem Statement</vt:lpstr>
      <vt:lpstr>Project Objectives</vt:lpstr>
      <vt:lpstr>Literature Review — Background</vt:lpstr>
      <vt:lpstr>Literature Review — Identified Gaps</vt:lpstr>
      <vt:lpstr>Methodology — Development Approach</vt:lpstr>
      <vt:lpstr>System Architecture — Three-Tier Design</vt:lpstr>
      <vt:lpstr>Machine Learning Methodology</vt:lpstr>
      <vt:lpstr>Dataset &amp; Features</vt:lpstr>
      <vt:lpstr>Implementation — Technology Stack</vt:lpstr>
      <vt:lpstr>Implementation — Core Features</vt:lpstr>
      <vt:lpstr>System Architecture</vt:lpstr>
      <vt:lpstr>Student Dashboard — Key Features</vt:lpstr>
      <vt:lpstr>Teacher Dashboard — Key Features</vt:lpstr>
      <vt:lpstr>Security &amp; Data Handling</vt:lpstr>
      <vt:lpstr>Model Performance Comparison</vt:lpstr>
      <vt:lpstr>Results — Algorithm Performance Comparison</vt:lpstr>
      <vt:lpstr>Results — Performance Metrics Analysis</vt:lpstr>
      <vt:lpstr>Results — System Accuracy Breakdown</vt:lpstr>
      <vt:lpstr>Key Performance Metrics</vt:lpstr>
      <vt:lpstr>Discussion — Key Insights</vt:lpstr>
      <vt:lpstr>Challenges &amp; Solutions</vt:lpstr>
      <vt:lpstr>Conclusion — Project Summary</vt:lpstr>
      <vt:lpstr>Future Work &amp; Enhancements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Administrator</cp:lastModifiedBy>
  <cp:revision>4</cp:revision>
  <dcterms:created xsi:type="dcterms:W3CDTF">2013-01-27T09:14:16Z</dcterms:created>
  <dcterms:modified xsi:type="dcterms:W3CDTF">2026-01-05T17:44:26Z</dcterms:modified>
  <cp:category/>
</cp:coreProperties>
</file>